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1B131D-092B-46C2-BC45-948A72A967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181A1-AA6C-4BDF-93D2-40EA10D08D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0E51B9-346D-4350-85D4-E6D67B1ECA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0A096F-88B0-4F43-81BE-A4EDCF49C3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D740F-E76E-436D-9E6A-B5D1BC5543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A6D216-6E81-435B-A7FD-2B5A5E1EDA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4FFF43-8194-43F5-A002-21095963EA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91CC64-FAFF-48BA-9B59-EAD90CBB8A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EDDC23-08DF-43F8-9E9D-C1B8A622FE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C47ADB-DF3B-4D33-ADCB-F60E2C9E53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1CD87E-15C6-438F-86EF-268294C34C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448073-68EF-4929-9936-93AAFDFA2F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6F45042-788A-4475-B749-5D037E09A7A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13243a"/>
          </a:solidFill>
          <a:ln w="0">
            <a:solidFill>
              <a:srgbClr val="13243a"/>
            </a:solidFill>
          </a:ln>
        </p:spPr>
      </p:sp>
      <p:sp>
        <p:nvSpPr>
          <p:cNvPr id="43" name=""/>
          <p:cNvSpPr/>
          <p:nvPr/>
        </p:nvSpPr>
        <p:spPr>
          <a:xfrm>
            <a:off x="426600" y="548640"/>
            <a:ext cx="146160" cy="425196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44" name=""/>
          <p:cNvSpPr txBox="1"/>
          <p:nvPr/>
        </p:nvSpPr>
        <p:spPr>
          <a:xfrm>
            <a:off x="975240" y="891360"/>
            <a:ext cx="99972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400" spc="-1" strike="noStrike">
                <a:solidFill>
                  <a:srgbClr val="ffffff"/>
                </a:solidFill>
                <a:latin typeface="Noto Sans CJK JP"/>
              </a:rPr>
              <a:t>OpenPI π0.5 </a:t>
            </a:r>
            <a:r>
              <a:rPr b="1" lang="zh-CN" sz="3400" spc="-1" strike="noStrike">
                <a:solidFill>
                  <a:srgbClr val="ffffff"/>
                </a:solidFill>
                <a:latin typeface="Noto Sans CJK JP"/>
              </a:rPr>
              <a:t>权重</a:t>
            </a:r>
            <a:endParaRPr b="1" lang="en-US" sz="3400" spc="-1" strike="noStrike">
              <a:solidFill>
                <a:srgbClr val="ffffff"/>
              </a:solidFill>
              <a:latin typeface="Noto Sans CJK JP"/>
            </a:endParaRPr>
          </a:p>
          <a:p>
            <a:r>
              <a:rPr b="1" lang="en-US" sz="3400" spc="-1" strike="noStrike">
                <a:solidFill>
                  <a:srgbClr val="ffffff"/>
                </a:solidFill>
                <a:latin typeface="Noto Sans CJK JP"/>
              </a:rPr>
              <a:t>LIBERO </a:t>
            </a:r>
            <a:r>
              <a:rPr b="1" lang="zh-CN" sz="3400" spc="-1" strike="noStrike">
                <a:solidFill>
                  <a:srgbClr val="ffffff"/>
                </a:solidFill>
                <a:latin typeface="Noto Sans CJK JP"/>
              </a:rPr>
              <a:t>本体对比评测</a:t>
            </a:r>
            <a:endParaRPr b="1" lang="en-US" sz="3400" spc="-1" strike="noStrike">
              <a:solidFill>
                <a:srgbClr val="ffffff"/>
              </a:solidFill>
              <a:latin typeface="Noto Sans CJK JP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975240" y="2674440"/>
            <a:ext cx="99972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d9e5ef"/>
                </a:solidFill>
                <a:latin typeface="Noto Sans CJK JP"/>
              </a:rPr>
              <a:t>官方 </a:t>
            </a:r>
            <a:r>
              <a:rPr b="0" lang="en-US" sz="1800" spc="-1" strike="noStrike">
                <a:solidFill>
                  <a:srgbClr val="d9e5ef"/>
                </a:solidFill>
                <a:latin typeface="Noto Sans CJK JP"/>
              </a:rPr>
              <a:t>pi05_libero </a:t>
            </a:r>
            <a:r>
              <a:rPr b="0" lang="zh-CN" sz="1800" spc="-1" strike="noStrike">
                <a:solidFill>
                  <a:srgbClr val="d9e5ef"/>
                </a:solidFill>
                <a:latin typeface="Noto Sans CJK JP"/>
              </a:rPr>
              <a:t>微调权重  </a:t>
            </a:r>
            <a:r>
              <a:rPr b="0" lang="en-US" sz="1800" spc="-1" strike="noStrike">
                <a:solidFill>
                  <a:srgbClr val="d9e5ef"/>
                </a:solidFill>
                <a:latin typeface="Noto Sans CJK JP"/>
              </a:rPr>
              <a:t>vs  pi05_base </a:t>
            </a:r>
            <a:r>
              <a:rPr b="0" lang="zh-CN" sz="1800" spc="-1" strike="noStrike">
                <a:solidFill>
                  <a:srgbClr val="d9e5ef"/>
                </a:solidFill>
                <a:latin typeface="Noto Sans CJK JP"/>
              </a:rPr>
              <a:t>基准权重</a:t>
            </a:r>
            <a:endParaRPr b="0" lang="en-US" sz="1800" spc="-1" strike="noStrike">
              <a:solidFill>
                <a:srgbClr val="d9e5ef"/>
              </a:solidFill>
              <a:latin typeface="Noto Sans CJK JP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975240" y="3908880"/>
            <a:ext cx="268200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800" spc="-1" strike="noStrike">
                <a:solidFill>
                  <a:srgbClr val="75d6b2"/>
                </a:solidFill>
                <a:latin typeface="Noto Sans CJK JP"/>
              </a:rPr>
              <a:t>97.10%</a:t>
            </a:r>
            <a:endParaRPr b="1" lang="en-US" sz="3800" spc="-1" strike="noStrike">
              <a:solidFill>
                <a:srgbClr val="75d6b2"/>
              </a:solidFill>
              <a:latin typeface="Noto Sans CJK JP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657600" y="4046040"/>
            <a:ext cx="292608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en-US" sz="2200" spc="-1" strike="noStrike">
                <a:solidFill>
                  <a:srgbClr val="8ca0b5"/>
                </a:solidFill>
                <a:latin typeface="Noto Sans CJK JP"/>
              </a:rPr>
              <a:t>vs</a:t>
            </a:r>
            <a:endParaRPr b="1" lang="en-US" sz="2200" spc="-1" strike="noStrike">
              <a:solidFill>
                <a:srgbClr val="8ca0b5"/>
              </a:solidFill>
              <a:latin typeface="Noto Sans CJK JP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583680" y="3908880"/>
            <a:ext cx="268200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800" spc="-1" strike="noStrike">
                <a:solidFill>
                  <a:srgbClr val="f08c91"/>
                </a:solidFill>
                <a:latin typeface="Noto Sans CJK JP"/>
              </a:rPr>
              <a:t>0.00%</a:t>
            </a:r>
            <a:endParaRPr b="1" lang="en-US" sz="3800" spc="-1" strike="noStrike">
              <a:solidFill>
                <a:srgbClr val="f08c91"/>
              </a:solidFill>
              <a:latin typeface="Noto Sans CJK JP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75240" y="5486400"/>
            <a:ext cx="99972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400" spc="-1" strike="noStrike">
                <a:solidFill>
                  <a:srgbClr val="d9e5ef"/>
                </a:solidFill>
                <a:latin typeface="Noto Sans CJK JP"/>
              </a:rPr>
              <a:t>同一套 </a:t>
            </a:r>
            <a:r>
              <a:rPr b="0" lang="en-US" sz="1400" spc="-1" strike="noStrike">
                <a:solidFill>
                  <a:srgbClr val="d9e5ef"/>
                </a:solidFill>
                <a:latin typeface="Noto Sans CJK JP"/>
              </a:rPr>
              <a:t>4 suites × 10 tasks × 50 trials </a:t>
            </a:r>
            <a:r>
              <a:rPr b="0" lang="zh-CN" sz="1400" spc="-1" strike="noStrike">
                <a:solidFill>
                  <a:srgbClr val="d9e5ef"/>
                </a:solidFill>
                <a:latin typeface="Noto Sans CJK JP"/>
              </a:rPr>
              <a:t>配对矩阵</a:t>
            </a:r>
            <a:endParaRPr b="0" lang="en-US" sz="1400" spc="-1" strike="noStrike">
              <a:solidFill>
                <a:srgbClr val="d9e5ef"/>
              </a:solidFill>
              <a:latin typeface="Noto Sans CJK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OpenPI π0.5 × LIBERO ·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评测结果归档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01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53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先确认可比性：同一考场、同一试卷，仅参数能力不同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54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55" name=""/>
          <p:cNvSpPr/>
          <p:nvPr/>
        </p:nvSpPr>
        <p:spPr>
          <a:xfrm>
            <a:off x="487440" y="1371600"/>
            <a:ext cx="2560320" cy="1714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56" name=""/>
          <p:cNvSpPr txBox="1"/>
          <p:nvPr/>
        </p:nvSpPr>
        <p:spPr>
          <a:xfrm>
            <a:off x="731520" y="1577160"/>
            <a:ext cx="207252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400" spc="-1" strike="noStrike">
                <a:solidFill>
                  <a:srgbClr val="176b5b"/>
                </a:solidFill>
                <a:latin typeface="Noto Sans CJK JP"/>
              </a:rPr>
              <a:t>任务矩阵</a:t>
            </a:r>
            <a:endParaRPr b="1" lang="en-US" sz="14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731520" y="2057400"/>
            <a:ext cx="2072520" cy="75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4 suites × 10 tasks ×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50 trials = 2000 episodes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58" name=""/>
          <p:cNvSpPr/>
          <p:nvPr/>
        </p:nvSpPr>
        <p:spPr>
          <a:xfrm>
            <a:off x="3413520" y="1371600"/>
            <a:ext cx="2560320" cy="1714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59" name=""/>
          <p:cNvSpPr txBox="1"/>
          <p:nvPr/>
        </p:nvSpPr>
        <p:spPr>
          <a:xfrm>
            <a:off x="3657600" y="1577160"/>
            <a:ext cx="207252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400" spc="-1" strike="noStrike">
                <a:solidFill>
                  <a:srgbClr val="176b5b"/>
                </a:solidFill>
                <a:latin typeface="Noto Sans CJK JP"/>
              </a:rPr>
              <a:t>输入与推理</a:t>
            </a:r>
            <a:endParaRPr b="1" lang="en-US" sz="14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657600" y="2057400"/>
            <a:ext cx="2072520" cy="75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224×224 </a:t>
            </a:r>
            <a:r>
              <a:rPr b="0" lang="zh-CN" sz="1100" spc="-1" strike="noStrike">
                <a:solidFill>
                  <a:srgbClr val="142238"/>
                </a:solidFill>
                <a:latin typeface="Noto Sans CJK JP"/>
              </a:rPr>
              <a:t>图像 </a:t>
            </a:r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· seed 7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replan steps = 5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61" name=""/>
          <p:cNvSpPr/>
          <p:nvPr/>
        </p:nvSpPr>
        <p:spPr>
          <a:xfrm>
            <a:off x="6339600" y="1371600"/>
            <a:ext cx="2560320" cy="1714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62" name=""/>
          <p:cNvSpPr txBox="1"/>
          <p:nvPr/>
        </p:nvSpPr>
        <p:spPr>
          <a:xfrm>
            <a:off x="6583680" y="1577160"/>
            <a:ext cx="207252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400" spc="-1" strike="noStrike">
                <a:solidFill>
                  <a:srgbClr val="176b5b"/>
                </a:solidFill>
                <a:latin typeface="Noto Sans CJK JP"/>
              </a:rPr>
              <a:t>成功判定</a:t>
            </a:r>
            <a:endParaRPr b="1" lang="en-US" sz="14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583680" y="2057400"/>
            <a:ext cx="2072520" cy="108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100" spc="-1" strike="noStrike">
                <a:solidFill>
                  <a:srgbClr val="142238"/>
                </a:solidFill>
                <a:latin typeface="Noto Sans CJK JP"/>
              </a:rPr>
              <a:t>同一环境与任务描述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zh-CN" sz="1100" spc="-1" strike="noStrike">
                <a:solidFill>
                  <a:srgbClr val="142238"/>
                </a:solidFill>
                <a:latin typeface="Noto Sans CJK JP"/>
              </a:rPr>
              <a:t>固定 </a:t>
            </a:r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suite </a:t>
            </a:r>
            <a:r>
              <a:rPr b="0" lang="zh-CN" sz="1100" spc="-1" strike="noStrike">
                <a:solidFill>
                  <a:srgbClr val="142238"/>
                </a:solidFill>
                <a:latin typeface="Noto Sans CJK JP"/>
              </a:rPr>
              <a:t>最大步数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64" name=""/>
          <p:cNvSpPr/>
          <p:nvPr/>
        </p:nvSpPr>
        <p:spPr>
          <a:xfrm>
            <a:off x="9265680" y="1371600"/>
            <a:ext cx="2560320" cy="1714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65" name=""/>
          <p:cNvSpPr txBox="1"/>
          <p:nvPr/>
        </p:nvSpPr>
        <p:spPr>
          <a:xfrm>
            <a:off x="9509760" y="1577160"/>
            <a:ext cx="207252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176b5b"/>
                </a:solidFill>
                <a:latin typeface="Noto Sans CJK JP"/>
              </a:rPr>
              <a:t>Base </a:t>
            </a:r>
            <a:r>
              <a:rPr b="1" lang="zh-CN" sz="1400" spc="-1" strike="noStrike">
                <a:solidFill>
                  <a:srgbClr val="176b5b"/>
                </a:solidFill>
                <a:latin typeface="Noto Sans CJK JP"/>
              </a:rPr>
              <a:t>对照</a:t>
            </a:r>
            <a:endParaRPr b="1" lang="en-US" sz="14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509760" y="2057400"/>
            <a:ext cx="2072520" cy="95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pi05_base </a:t>
            </a:r>
            <a:r>
              <a:rPr b="0" lang="zh-CN" sz="1100" spc="-1" strike="noStrike">
                <a:solidFill>
                  <a:srgbClr val="142238"/>
                </a:solidFill>
                <a:latin typeface="Noto Sans CJK JP"/>
              </a:rPr>
              <a:t>参数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+ </a:t>
            </a:r>
            <a:r>
              <a:rPr b="0" lang="zh-CN" sz="1100" spc="-1" strike="noStrike">
                <a:solidFill>
                  <a:srgbClr val="142238"/>
                </a:solidFill>
                <a:latin typeface="Noto Sans CJK JP"/>
              </a:rPr>
              <a:t>官方 </a:t>
            </a:r>
            <a:r>
              <a:rPr b="0" lang="en-US" sz="1100" spc="-1" strike="noStrike">
                <a:solidFill>
                  <a:srgbClr val="142238"/>
                </a:solidFill>
                <a:latin typeface="Noto Sans CJK JP"/>
              </a:rPr>
              <a:t>LIBERO stats/assets</a:t>
            </a:r>
            <a:endParaRPr b="0" lang="en-US" sz="11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67" name=""/>
          <p:cNvSpPr/>
          <p:nvPr/>
        </p:nvSpPr>
        <p:spPr>
          <a:xfrm>
            <a:off x="487440" y="3497400"/>
            <a:ext cx="11216520" cy="2194560"/>
          </a:xfrm>
          <a:prstGeom prst="roundRect">
            <a:avLst/>
          </a:prstGeom>
          <a:solidFill>
            <a:srgbClr val="eaf4f1"/>
          </a:solidFill>
          <a:ln w="0">
            <a:solidFill>
              <a:srgbClr val="176b5b"/>
            </a:solidFill>
          </a:ln>
        </p:spPr>
      </p:sp>
      <p:sp>
        <p:nvSpPr>
          <p:cNvPr id="68" name=""/>
          <p:cNvSpPr txBox="1"/>
          <p:nvPr/>
        </p:nvSpPr>
        <p:spPr>
          <a:xfrm>
            <a:off x="853200" y="3840480"/>
            <a:ext cx="1048500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800" spc="-1" strike="noStrike">
                <a:solidFill>
                  <a:srgbClr val="176b5b"/>
                </a:solidFill>
                <a:latin typeface="Noto Sans CJK JP"/>
              </a:rPr>
              <a:t>为什么这个对照重要？</a:t>
            </a:r>
            <a:endParaRPr b="1" lang="en-US" sz="18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3200" y="4457520"/>
            <a:ext cx="10485000" cy="89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600" spc="-1" strike="noStrike">
                <a:solidFill>
                  <a:srgbClr val="142238"/>
                </a:solidFill>
                <a:latin typeface="Noto Sans CJK JP"/>
              </a:rPr>
              <a:t>如果 </a:t>
            </a:r>
            <a:r>
              <a:rPr b="0" lang="en-US" sz="16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0" lang="zh-CN" sz="1600" spc="-1" strike="noStrike">
                <a:solidFill>
                  <a:srgbClr val="142238"/>
                </a:solidFill>
                <a:latin typeface="Noto Sans CJK JP"/>
              </a:rPr>
              <a:t>仍然失败，就不能再把原因简单归结为“缺少 </a:t>
            </a:r>
            <a:r>
              <a:rPr b="0" lang="en-US" sz="1600" spc="-1" strike="noStrike">
                <a:solidFill>
                  <a:srgbClr val="142238"/>
                </a:solidFill>
                <a:latin typeface="Noto Sans CJK JP"/>
              </a:rPr>
              <a:t>LIBERO </a:t>
            </a:r>
            <a:r>
              <a:rPr b="0" lang="zh-CN" sz="1600" spc="-1" strike="noStrike">
                <a:solidFill>
                  <a:srgbClr val="142238"/>
                </a:solidFill>
                <a:latin typeface="Noto Sans CJK JP"/>
              </a:rPr>
              <a:t>的单位换算表或环境资源”。</a:t>
            </a:r>
            <a:endParaRPr b="0" lang="en-US" sz="16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zh-CN" sz="1600" spc="-1" strike="noStrike">
                <a:solidFill>
                  <a:srgbClr val="142238"/>
                </a:solidFill>
                <a:latin typeface="Noto Sans CJK JP"/>
              </a:rPr>
              <a:t>两组差异反映的是当前固定协议下，任务微调权重是否真正形成了 </a:t>
            </a:r>
            <a:r>
              <a:rPr b="0" lang="en-US" sz="1600" spc="-1" strike="noStrike">
                <a:solidFill>
                  <a:srgbClr val="142238"/>
                </a:solidFill>
                <a:latin typeface="Noto Sans CJK JP"/>
              </a:rPr>
              <a:t>LIBERO </a:t>
            </a:r>
            <a:r>
              <a:rPr b="0" lang="zh-CN" sz="1600" spc="-1" strike="noStrike">
                <a:solidFill>
                  <a:srgbClr val="142238"/>
                </a:solidFill>
                <a:latin typeface="Noto Sans CJK JP"/>
              </a:rPr>
              <a:t>操作能力。</a:t>
            </a:r>
            <a:endParaRPr b="0" lang="en-US" sz="16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02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73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总体结果：同一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2000-episode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矩阵上为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97.10% vs 0%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74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75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78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265680" y="1851480"/>
            <a:ext cx="2316240" cy="123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任务微调权重是获得 </a:t>
            </a:r>
            <a:r>
              <a:rPr b="1" lang="en-US" sz="1700" spc="-1" strike="noStrike">
                <a:solidFill>
                  <a:srgbClr val="142238"/>
                </a:solidFill>
                <a:latin typeface="Noto Sans CJK JP"/>
              </a:rPr>
              <a:t>LIBERO </a:t>
            </a:r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操作能力的决定性因素。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80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81" name=""/>
          <p:cNvSpPr txBox="1"/>
          <p:nvPr/>
        </p:nvSpPr>
        <p:spPr>
          <a:xfrm>
            <a:off x="9265680" y="3566160"/>
            <a:ext cx="2316240" cy="263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观察差距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97.1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个百分点；任务配对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bootstrap 95% CI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为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94.80–98.65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官方权重通过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93.85%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验收线；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Base 95% CI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上界仅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0.19%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03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85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逐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episode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配对：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没有任何一次反超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86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87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90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265680" y="1851480"/>
            <a:ext cx="2316240" cy="123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142238"/>
                </a:solidFill>
                <a:latin typeface="Noto Sans CJK JP"/>
              </a:rPr>
              <a:t>1,942 </a:t>
            </a:r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次差异全部指向官方权重成功、</a:t>
            </a:r>
            <a:r>
              <a:rPr b="1" lang="en-US" sz="17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失败。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92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93" name=""/>
          <p:cNvSpPr txBox="1"/>
          <p:nvPr/>
        </p:nvSpPr>
        <p:spPr>
          <a:xfrm>
            <a:off x="9265680" y="3566160"/>
            <a:ext cx="2316240" cy="230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官方胜出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1,942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次；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Base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胜出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0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次。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两边共同失败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58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次；配对一致率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2.9%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，且全部是共同失败。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04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97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Suite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分解：差距覆盖空间、物体、目标与长时序任务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98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99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02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265680" y="1851480"/>
            <a:ext cx="2316240" cy="123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四个 </a:t>
            </a:r>
            <a:r>
              <a:rPr b="1" lang="en-US" sz="1700" spc="-1" strike="noStrike">
                <a:solidFill>
                  <a:srgbClr val="142238"/>
                </a:solidFill>
                <a:latin typeface="Noto Sans CJK JP"/>
              </a:rPr>
              <a:t>suite </a:t>
            </a:r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全部拉开差距，不是单一题型的偶发现象。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04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105" name=""/>
          <p:cNvSpPr txBox="1"/>
          <p:nvPr/>
        </p:nvSpPr>
        <p:spPr>
          <a:xfrm>
            <a:off x="9265680" y="3566160"/>
            <a:ext cx="2316240" cy="230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微调权重：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Spatial 98.6%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、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Object 98.4%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、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Goal 98.2%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、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LIBERO-10 93.2%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Base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四套均为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0/500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05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109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40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个任务热力图：微调权重多数接近满分，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全部为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0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10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111" name=""/>
          <p:cNvSpPr/>
          <p:nvPr/>
        </p:nvSpPr>
        <p:spPr>
          <a:xfrm>
            <a:off x="304560" y="1097280"/>
            <a:ext cx="11582280" cy="528048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670320" y="1371600"/>
            <a:ext cx="10850760" cy="438912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 txBox="1"/>
          <p:nvPr/>
        </p:nvSpPr>
        <p:spPr>
          <a:xfrm>
            <a:off x="731520" y="5932080"/>
            <a:ext cx="1072872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zh-CN" sz="1050" spc="-1" strike="noStrike">
                <a:solidFill>
                  <a:srgbClr val="657287"/>
                </a:solidFill>
                <a:latin typeface="Noto Sans CJK JP"/>
              </a:rPr>
              <a:t>每个格子包含 </a:t>
            </a:r>
            <a:r>
              <a:rPr b="0" lang="en-US" sz="1050" spc="-1" strike="noStrike">
                <a:solidFill>
                  <a:srgbClr val="657287"/>
                </a:solidFill>
                <a:latin typeface="Noto Sans CJK JP"/>
              </a:rPr>
              <a:t>50 </a:t>
            </a:r>
            <a:r>
              <a:rPr b="0" lang="zh-CN" sz="1050" spc="-1" strike="noStrike">
                <a:solidFill>
                  <a:srgbClr val="657287"/>
                </a:solidFill>
                <a:latin typeface="Noto Sans CJK JP"/>
              </a:rPr>
              <a:t>次 </a:t>
            </a:r>
            <a:r>
              <a:rPr b="0" lang="en-US" sz="1050" spc="-1" strike="noStrike">
                <a:solidFill>
                  <a:srgbClr val="657287"/>
                </a:solidFill>
                <a:latin typeface="Noto Sans CJK JP"/>
              </a:rPr>
              <a:t>trial</a:t>
            </a:r>
            <a:r>
              <a:rPr b="0" lang="zh-CN" sz="1050" spc="-1" strike="noStrike">
                <a:solidFill>
                  <a:srgbClr val="657287"/>
                </a:solidFill>
                <a:latin typeface="Noto Sans CJK JP"/>
              </a:rPr>
              <a:t>；颜色和数字均为任务级成功率。</a:t>
            </a:r>
            <a:endParaRPr b="0" lang="en-US" sz="10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06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117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任务级稳定性：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29/40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个任务达到至少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98%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18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119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22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9265680" y="1851480"/>
            <a:ext cx="2316240" cy="123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高分并非来自少数任务拉高平均：多数任务本身就接近满分。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24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125" name=""/>
          <p:cNvSpPr txBox="1"/>
          <p:nvPr/>
        </p:nvSpPr>
        <p:spPr>
          <a:xfrm>
            <a:off x="9265680" y="3566160"/>
            <a:ext cx="2316240" cy="205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19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个任务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100%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；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29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个任务 ≥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98%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；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37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个任务 ≥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94%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Base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：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40/40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个任务均为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0%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07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129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失败长尾：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58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次失败的一半集中在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3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个任务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30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131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133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34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9265680" y="1851480"/>
            <a:ext cx="2316240" cy="123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总体 </a:t>
            </a:r>
            <a:r>
              <a:rPr b="1" lang="en-US" sz="1700" spc="-1" strike="noStrike">
                <a:solidFill>
                  <a:srgbClr val="142238"/>
                </a:solidFill>
                <a:latin typeface="Noto Sans CJK JP"/>
              </a:rPr>
              <a:t>97.10% </a:t>
            </a:r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仍掩盖少数长时序任务的明显风险。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36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137" name=""/>
          <p:cNvSpPr txBox="1"/>
          <p:nvPr/>
        </p:nvSpPr>
        <p:spPr>
          <a:xfrm>
            <a:off x="9265680" y="3566160"/>
            <a:ext cx="2316240" cy="205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最难任务：两只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moka pot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放到炉灶，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30/50 = 60%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Top-3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占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51.7%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失败；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Top-5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占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62.1%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08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141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动作预算：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不是快速报错，而是持续尝试后全部超时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42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143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46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9265680" y="1851480"/>
            <a:ext cx="2316240" cy="141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的 </a:t>
            </a:r>
            <a:r>
              <a:rPr b="1" lang="en-US" sz="1700" spc="-1" strike="noStrike">
                <a:solidFill>
                  <a:srgbClr val="142238"/>
                </a:solidFill>
                <a:latin typeface="Noto Sans CJK JP"/>
              </a:rPr>
              <a:t>2000 </a:t>
            </a:r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次失败都跑满最大步数，属于系统性策略失败。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48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149" name=""/>
          <p:cNvSpPr txBox="1"/>
          <p:nvPr/>
        </p:nvSpPr>
        <p:spPr>
          <a:xfrm>
            <a:off x="9265680" y="3566160"/>
            <a:ext cx="2316240" cy="205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官方总动作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318,664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步；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Base 660,000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步。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微调权重少执行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341,336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步，减少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51.7%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09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153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评测成本：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的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episode-duration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总和达到 </a:t>
            </a:r>
            <a:r>
              <a:rPr b="1" lang="en-US" sz="2500" spc="-1" strike="noStrike">
                <a:solidFill>
                  <a:srgbClr val="142238"/>
                </a:solidFill>
                <a:latin typeface="Noto Sans CJK JP"/>
              </a:rPr>
              <a:t>1.90 </a:t>
            </a:r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倍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54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155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157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58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9265680" y="1851480"/>
            <a:ext cx="2316240" cy="123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不会做的权重不仅得分低，也会持续消耗动作与评测时间。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60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161" name=""/>
          <p:cNvSpPr txBox="1"/>
          <p:nvPr/>
        </p:nvSpPr>
        <p:spPr>
          <a:xfrm>
            <a:off x="9265680" y="3566160"/>
            <a:ext cx="2316240" cy="2057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官方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5.53h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；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Base 10.52h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中位 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时长：</a:t>
            </a:r>
            <a:r>
              <a:rPr b="0" lang="en-US" sz="1230" spc="-1" strike="noStrike">
                <a:solidFill>
                  <a:srgbClr val="657287"/>
                </a:solidFill>
                <a:latin typeface="Noto Sans CJK JP"/>
              </a:rPr>
              <a:t>8.58s vs 15.98s</a:t>
            </a:r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10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165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探索性观察：高动作预算使用与困难任务相伴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66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167" name=""/>
          <p:cNvSpPr/>
          <p:nvPr/>
        </p:nvSpPr>
        <p:spPr>
          <a:xfrm>
            <a:off x="304560" y="1131480"/>
            <a:ext cx="84124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548640" y="1302840"/>
            <a:ext cx="7924680" cy="4663440"/>
          </a:xfrm>
          <a:prstGeom prst="rect">
            <a:avLst/>
          </a:prstGeom>
          <a:ln w="0">
            <a:noFill/>
          </a:ln>
        </p:spPr>
      </p:pic>
      <p:sp>
        <p:nvSpPr>
          <p:cNvPr id="169" name=""/>
          <p:cNvSpPr/>
          <p:nvPr/>
        </p:nvSpPr>
        <p:spPr>
          <a:xfrm>
            <a:off x="8961120" y="1131480"/>
            <a:ext cx="2926080" cy="514332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70" name=""/>
          <p:cNvSpPr txBox="1"/>
          <p:nvPr/>
        </p:nvSpPr>
        <p:spPr>
          <a:xfrm>
            <a:off x="9265680" y="1405800"/>
            <a:ext cx="231624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200" spc="-1" strike="noStrike">
                <a:solidFill>
                  <a:srgbClr val="176b5b"/>
                </a:solidFill>
                <a:latin typeface="Noto Sans CJK JP"/>
              </a:rPr>
              <a:t>一句话结论</a:t>
            </a:r>
            <a:endParaRPr b="1" lang="en-US" sz="12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9265680" y="1851480"/>
            <a:ext cx="2316240" cy="123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42238"/>
                </a:solidFill>
                <a:latin typeface="Noto Sans CJK JP"/>
              </a:rPr>
              <a:t>最难任务既成功率最低，也最接近耗尽动作预算。</a:t>
            </a:r>
            <a:endParaRPr b="1" lang="en-US" sz="17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72" name=""/>
          <p:cNvSpPr/>
          <p:nvPr/>
        </p:nvSpPr>
        <p:spPr>
          <a:xfrm>
            <a:off x="9265680" y="3291840"/>
            <a:ext cx="1828800" cy="41040"/>
          </a:xfrm>
          <a:prstGeom prst="roundRect">
            <a:avLst/>
          </a:prstGeom>
          <a:solidFill>
            <a:srgbClr val="d98b2b"/>
          </a:solidFill>
          <a:ln w="0">
            <a:solidFill>
              <a:srgbClr val="d98b2b"/>
            </a:solidFill>
          </a:ln>
        </p:spPr>
      </p:sp>
      <p:sp>
        <p:nvSpPr>
          <p:cNvPr id="173" name=""/>
          <p:cNvSpPr txBox="1"/>
          <p:nvPr/>
        </p:nvSpPr>
        <p:spPr>
          <a:xfrm>
            <a:off x="9265680" y="3566160"/>
            <a:ext cx="2316240" cy="230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该图用于定位困难任务和长尾，不构成因果结论。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  <a:p>
            <a:r>
              <a:rPr b="0" lang="zh-CN" sz="1230" spc="-1" strike="noStrike">
                <a:solidFill>
                  <a:srgbClr val="657287"/>
                </a:solidFill>
                <a:latin typeface="Noto Sans CJK JP"/>
              </a:rPr>
              <a:t>建议后续针对多物体、长时序、状态恢复任务做专门回归。</a:t>
            </a:r>
            <a:endParaRPr b="0" lang="en-US" sz="123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11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177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为什么可以相信这些数字：结果能力与证据质量分开验收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78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179" name=""/>
          <p:cNvSpPr/>
          <p:nvPr/>
        </p:nvSpPr>
        <p:spPr>
          <a:xfrm>
            <a:off x="731520" y="1440000"/>
            <a:ext cx="3291840" cy="150876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80" name=""/>
          <p:cNvSpPr txBox="1"/>
          <p:nvPr/>
        </p:nvSpPr>
        <p:spPr>
          <a:xfrm>
            <a:off x="1036080" y="1680120"/>
            <a:ext cx="2682000" cy="5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en-US" sz="2700" spc="-1" strike="noStrike">
                <a:solidFill>
                  <a:srgbClr val="176b5b"/>
                </a:solidFill>
                <a:latin typeface="Noto Sans CJK JP"/>
              </a:rPr>
              <a:t>2000 / 2000</a:t>
            </a:r>
            <a:endParaRPr b="1" lang="en-US" sz="27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036080" y="2297160"/>
            <a:ext cx="268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657287"/>
                </a:solidFill>
                <a:latin typeface="Noto Sans CJK JP"/>
              </a:rPr>
              <a:t>每份权重矩阵完整</a:t>
            </a:r>
            <a:endParaRPr b="0" lang="en-US" sz="120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82" name=""/>
          <p:cNvSpPr/>
          <p:nvPr/>
        </p:nvSpPr>
        <p:spPr>
          <a:xfrm>
            <a:off x="4510800" y="1440000"/>
            <a:ext cx="3291840" cy="150876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83" name=""/>
          <p:cNvSpPr txBox="1"/>
          <p:nvPr/>
        </p:nvSpPr>
        <p:spPr>
          <a:xfrm>
            <a:off x="4815720" y="1680120"/>
            <a:ext cx="2682000" cy="5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en-US" sz="2700" spc="-1" strike="noStrike">
                <a:solidFill>
                  <a:srgbClr val="176b5b"/>
                </a:solidFill>
                <a:latin typeface="Noto Sans CJK JP"/>
              </a:rPr>
              <a:t>2000</a:t>
            </a:r>
            <a:endParaRPr b="1" lang="en-US" sz="27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4815720" y="2297160"/>
            <a:ext cx="268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657287"/>
                </a:solidFill>
                <a:latin typeface="Noto Sans CJK JP"/>
              </a:rPr>
              <a:t>唯一 </a:t>
            </a:r>
            <a:r>
              <a:rPr b="0" lang="en-US" sz="1200" spc="-1" strike="noStrike">
                <a:solidFill>
                  <a:srgbClr val="657287"/>
                </a:solidFill>
                <a:latin typeface="Noto Sans CJK JP"/>
              </a:rPr>
              <a:t>episode + attempt</a:t>
            </a:r>
            <a:endParaRPr b="0" lang="en-US" sz="120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85" name=""/>
          <p:cNvSpPr/>
          <p:nvPr/>
        </p:nvSpPr>
        <p:spPr>
          <a:xfrm>
            <a:off x="8290440" y="1440000"/>
            <a:ext cx="3291840" cy="150876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86" name=""/>
          <p:cNvSpPr txBox="1"/>
          <p:nvPr/>
        </p:nvSpPr>
        <p:spPr>
          <a:xfrm>
            <a:off x="8595360" y="1680120"/>
            <a:ext cx="2682000" cy="5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en-US" sz="2700" spc="-1" strike="noStrike">
                <a:solidFill>
                  <a:srgbClr val="176b5b"/>
                </a:solidFill>
                <a:latin typeface="Noto Sans CJK JP"/>
              </a:rPr>
              <a:t>2000</a:t>
            </a:r>
            <a:endParaRPr b="1" lang="en-US" sz="27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8595360" y="2297160"/>
            <a:ext cx="268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657287"/>
                </a:solidFill>
                <a:latin typeface="Noto Sans CJK JP"/>
              </a:rPr>
              <a:t>非空录像一一对应</a:t>
            </a:r>
            <a:endParaRPr b="0" lang="en-US" sz="120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88" name=""/>
          <p:cNvSpPr/>
          <p:nvPr/>
        </p:nvSpPr>
        <p:spPr>
          <a:xfrm>
            <a:off x="731520" y="3360240"/>
            <a:ext cx="3291840" cy="150876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89" name=""/>
          <p:cNvSpPr txBox="1"/>
          <p:nvPr/>
        </p:nvSpPr>
        <p:spPr>
          <a:xfrm>
            <a:off x="1036080" y="3600360"/>
            <a:ext cx="2682000" cy="5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en-US" sz="2700" spc="-1" strike="noStrike">
                <a:solidFill>
                  <a:srgbClr val="176b5b"/>
                </a:solidFill>
                <a:latin typeface="Noto Sans CJK JP"/>
              </a:rPr>
              <a:t>0</a:t>
            </a:r>
            <a:endParaRPr b="1" lang="en-US" sz="27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036080" y="4217400"/>
            <a:ext cx="268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657287"/>
                </a:solidFill>
                <a:latin typeface="Noto Sans CJK JP"/>
              </a:rPr>
              <a:t>基础设施错误</a:t>
            </a:r>
            <a:endParaRPr b="0" lang="en-US" sz="120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91" name=""/>
          <p:cNvSpPr/>
          <p:nvPr/>
        </p:nvSpPr>
        <p:spPr>
          <a:xfrm>
            <a:off x="4510800" y="3360240"/>
            <a:ext cx="3291840" cy="150876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92" name=""/>
          <p:cNvSpPr txBox="1"/>
          <p:nvPr/>
        </p:nvSpPr>
        <p:spPr>
          <a:xfrm>
            <a:off x="4815720" y="3600360"/>
            <a:ext cx="2682000" cy="5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en-US" sz="2700" spc="-1" strike="noStrike">
                <a:solidFill>
                  <a:srgbClr val="176b5b"/>
                </a:solidFill>
                <a:latin typeface="Noto Sans CJK JP"/>
              </a:rPr>
              <a:t>Exact</a:t>
            </a:r>
            <a:endParaRPr b="1" lang="en-US" sz="27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4815720" y="4217400"/>
            <a:ext cx="268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657287"/>
                </a:solidFill>
                <a:latin typeface="Noto Sans CJK JP"/>
              </a:rPr>
              <a:t>任务</a:t>
            </a:r>
            <a:r>
              <a:rPr b="0" lang="en-US" sz="1200" spc="-1" strike="noStrike">
                <a:solidFill>
                  <a:srgbClr val="657287"/>
                </a:solidFill>
                <a:latin typeface="Noto Sans CJK JP"/>
              </a:rPr>
              <a:t>/</a:t>
            </a:r>
            <a:r>
              <a:rPr b="0" lang="zh-CN" sz="1200" spc="-1" strike="noStrike">
                <a:solidFill>
                  <a:srgbClr val="657287"/>
                </a:solidFill>
                <a:latin typeface="Noto Sans CJK JP"/>
              </a:rPr>
              <a:t>试次配对一致</a:t>
            </a:r>
            <a:endParaRPr b="0" lang="en-US" sz="120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94" name=""/>
          <p:cNvSpPr/>
          <p:nvPr/>
        </p:nvSpPr>
        <p:spPr>
          <a:xfrm>
            <a:off x="8290440" y="3360240"/>
            <a:ext cx="3291840" cy="1508760"/>
          </a:xfrm>
          <a:prstGeom prst="roundRect">
            <a:avLst/>
          </a:prstGeom>
          <a:solidFill>
            <a:srgbClr val="ffffff"/>
          </a:solidFill>
          <a:ln w="0">
            <a:solidFill>
              <a:srgbClr val="dce3ea"/>
            </a:solidFill>
          </a:ln>
        </p:spPr>
      </p:sp>
      <p:sp>
        <p:nvSpPr>
          <p:cNvPr id="195" name=""/>
          <p:cNvSpPr txBox="1"/>
          <p:nvPr/>
        </p:nvSpPr>
        <p:spPr>
          <a:xfrm>
            <a:off x="8595360" y="3600360"/>
            <a:ext cx="2682000" cy="58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en-US" sz="2700" spc="-1" strike="noStrike">
                <a:solidFill>
                  <a:srgbClr val="176b5b"/>
                </a:solidFill>
                <a:latin typeface="Noto Sans CJK JP"/>
              </a:rPr>
              <a:t>Passed</a:t>
            </a:r>
            <a:endParaRPr b="1" lang="en-US" sz="27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8595360" y="4217400"/>
            <a:ext cx="2682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zh-CN" sz="1200" spc="-1" strike="noStrike">
                <a:solidFill>
                  <a:srgbClr val="657287"/>
                </a:solidFill>
                <a:latin typeface="Noto Sans CJK JP"/>
              </a:rPr>
              <a:t>最终独立审计</a:t>
            </a:r>
            <a:endParaRPr b="0" lang="en-US" sz="120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975240" y="5486400"/>
            <a:ext cx="10241280" cy="47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zh-CN" sz="1400" spc="-1" strike="noStrike">
                <a:solidFill>
                  <a:srgbClr val="142238"/>
                </a:solidFill>
                <a:latin typeface="Noto Sans CJK JP"/>
              </a:rPr>
              <a:t>每个分数都能回溯到 </a:t>
            </a:r>
            <a:r>
              <a:rPr b="1" lang="en-US" sz="1400" spc="-1" strike="noStrike">
                <a:solidFill>
                  <a:srgbClr val="142238"/>
                </a:solidFill>
                <a:latin typeface="Noto Sans CJK JP"/>
              </a:rPr>
              <a:t>JSONL</a:t>
            </a:r>
            <a:r>
              <a:rPr b="1" lang="zh-CN" sz="1400" spc="-1" strike="noStrike">
                <a:solidFill>
                  <a:srgbClr val="142238"/>
                </a:solidFill>
                <a:latin typeface="Noto Sans CJK JP"/>
              </a:rPr>
              <a:t>、录像、日志、</a:t>
            </a:r>
            <a:r>
              <a:rPr b="1" lang="en-US" sz="1400" spc="-1" strike="noStrike">
                <a:solidFill>
                  <a:srgbClr val="142238"/>
                </a:solidFill>
                <a:latin typeface="Noto Sans CJK JP"/>
              </a:rPr>
              <a:t>manifest</a:t>
            </a:r>
            <a:r>
              <a:rPr b="1" lang="zh-CN" sz="1400" spc="-1" strike="noStrike">
                <a:solidFill>
                  <a:srgbClr val="142238"/>
                </a:solidFill>
                <a:latin typeface="Noto Sans CJK JP"/>
              </a:rPr>
              <a:t>、</a:t>
            </a:r>
            <a:r>
              <a:rPr b="1" lang="en-US" sz="1400" spc="-1" strike="noStrike">
                <a:solidFill>
                  <a:srgbClr val="142238"/>
                </a:solidFill>
                <a:latin typeface="Noto Sans CJK JP"/>
              </a:rPr>
              <a:t>Git commit </a:t>
            </a:r>
            <a:r>
              <a:rPr b="1" lang="zh-CN" sz="1400" spc="-1" strike="noStrike">
                <a:solidFill>
                  <a:srgbClr val="142238"/>
                </a:solidFill>
                <a:latin typeface="Noto Sans CJK JP"/>
              </a:rPr>
              <a:t>与 </a:t>
            </a:r>
            <a:r>
              <a:rPr b="1" lang="en-US" sz="1400" spc="-1" strike="noStrike">
                <a:solidFill>
                  <a:srgbClr val="142238"/>
                </a:solidFill>
                <a:latin typeface="Noto Sans CJK JP"/>
              </a:rPr>
              <a:t>checkpoint </a:t>
            </a:r>
            <a:r>
              <a:rPr b="1" lang="zh-CN" sz="1400" spc="-1" strike="noStrike">
                <a:solidFill>
                  <a:srgbClr val="142238"/>
                </a:solidFill>
                <a:latin typeface="Noto Sans CJK JP"/>
              </a:rPr>
              <a:t>哈希。</a:t>
            </a:r>
            <a:endParaRPr b="1" lang="en-US" sz="14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12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>
            <a:off x="0" y="0"/>
            <a:ext cx="12192120" cy="6858000"/>
          </a:xfrm>
          <a:prstGeom prst="roundRect">
            <a:avLst/>
          </a:prstGeom>
          <a:solidFill>
            <a:srgbClr val="f6f8fb"/>
          </a:solidFill>
          <a:ln w="0">
            <a:solidFill>
              <a:srgbClr val="f6f8fb"/>
            </a:solidFill>
          </a:ln>
        </p:spPr>
      </p:sp>
      <p:sp>
        <p:nvSpPr>
          <p:cNvPr id="201" name=""/>
          <p:cNvSpPr txBox="1"/>
          <p:nvPr/>
        </p:nvSpPr>
        <p:spPr>
          <a:xfrm>
            <a:off x="426600" y="239760"/>
            <a:ext cx="10850760" cy="5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2500" spc="-1" strike="noStrike">
                <a:solidFill>
                  <a:srgbClr val="142238"/>
                </a:solidFill>
                <a:latin typeface="Noto Sans CJK JP"/>
              </a:rPr>
              <a:t>结论：微调权重形成了任务能力，但仍需关注长时序尾部风险</a:t>
            </a:r>
            <a:endParaRPr b="1" lang="en-US" sz="25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202" name=""/>
          <p:cNvSpPr/>
          <p:nvPr/>
        </p:nvSpPr>
        <p:spPr>
          <a:xfrm>
            <a:off x="426600" y="877680"/>
            <a:ext cx="853200" cy="47880"/>
          </a:xfrm>
          <a:prstGeom prst="roundRect">
            <a:avLst/>
          </a:prstGeom>
          <a:solidFill>
            <a:srgbClr val="176b5b"/>
          </a:solidFill>
          <a:ln w="0">
            <a:solidFill>
              <a:srgbClr val="176b5b"/>
            </a:solidFill>
          </a:ln>
        </p:spPr>
      </p:sp>
      <p:sp>
        <p:nvSpPr>
          <p:cNvPr id="203" name=""/>
          <p:cNvSpPr/>
          <p:nvPr/>
        </p:nvSpPr>
        <p:spPr>
          <a:xfrm>
            <a:off x="487440" y="1302840"/>
            <a:ext cx="5242320" cy="3977640"/>
          </a:xfrm>
          <a:prstGeom prst="roundRect">
            <a:avLst/>
          </a:prstGeom>
          <a:solidFill>
            <a:srgbClr val="eaf4f1"/>
          </a:solidFill>
          <a:ln w="0">
            <a:solidFill>
              <a:srgbClr val="176b5b"/>
            </a:solidFill>
          </a:ln>
        </p:spPr>
      </p:sp>
      <p:sp>
        <p:nvSpPr>
          <p:cNvPr id="204" name=""/>
          <p:cNvSpPr txBox="1"/>
          <p:nvPr/>
        </p:nvSpPr>
        <p:spPr>
          <a:xfrm>
            <a:off x="853200" y="1577160"/>
            <a:ext cx="438912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176b5b"/>
                </a:solidFill>
                <a:latin typeface="Noto Sans CJK JP"/>
              </a:rPr>
              <a:t>本次数据能够证明</a:t>
            </a:r>
            <a:endParaRPr b="1" lang="en-US" sz="1700" spc="-1" strike="noStrike">
              <a:solidFill>
                <a:srgbClr val="176b5b"/>
              </a:solidFill>
              <a:latin typeface="Noto Sans CJK JP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53200" y="2194560"/>
            <a:ext cx="4389120" cy="285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1.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官方 </a:t>
            </a:r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pi05_libero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在原始 </a:t>
            </a:r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LIBERO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上达到 </a:t>
            </a:r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97.10%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2. Base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即使搭配相同 </a:t>
            </a:r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stats/assets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仍为 </a:t>
            </a:r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0%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3. norm stats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不能替代任务微调能力。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4.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剩余失败集中在少数长时序任务。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206" name=""/>
          <p:cNvSpPr/>
          <p:nvPr/>
        </p:nvSpPr>
        <p:spPr>
          <a:xfrm>
            <a:off x="6461640" y="1302840"/>
            <a:ext cx="5242320" cy="3977640"/>
          </a:xfrm>
          <a:prstGeom prst="roundRect">
            <a:avLst/>
          </a:prstGeom>
          <a:solidFill>
            <a:srgbClr val="fff3e5"/>
          </a:solidFill>
          <a:ln w="0">
            <a:solidFill>
              <a:srgbClr val="d98b2b"/>
            </a:solidFill>
          </a:ln>
        </p:spPr>
      </p:sp>
      <p:sp>
        <p:nvSpPr>
          <p:cNvPr id="207" name=""/>
          <p:cNvSpPr txBox="1"/>
          <p:nvPr/>
        </p:nvSpPr>
        <p:spPr>
          <a:xfrm>
            <a:off x="6827400" y="1577160"/>
            <a:ext cx="438912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1700" spc="-1" strike="noStrike">
                <a:solidFill>
                  <a:srgbClr val="d98b2b"/>
                </a:solidFill>
                <a:latin typeface="Noto Sans CJK JP"/>
              </a:rPr>
              <a:t>本次数据不能直接证明</a:t>
            </a:r>
            <a:endParaRPr b="1" lang="en-US" sz="1700" spc="-1" strike="noStrike">
              <a:solidFill>
                <a:srgbClr val="d98b2b"/>
              </a:solidFill>
              <a:latin typeface="Noto Sans CJK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827400" y="2194560"/>
            <a:ext cx="4389120" cy="260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1.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真实机器人部署安全。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2.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其他任务或其他适配下 </a:t>
            </a:r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Base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必然失败。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3.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跨随机 </a:t>
            </a:r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seed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的性能方差。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  <a:p>
            <a:r>
              <a:rPr b="0" lang="en-US" sz="1400" spc="-1" strike="noStrike">
                <a:solidFill>
                  <a:srgbClr val="142238"/>
                </a:solidFill>
                <a:latin typeface="Noto Sans CJK JP"/>
              </a:rPr>
              <a:t>4. </a:t>
            </a:r>
            <a:r>
              <a:rPr b="0" lang="zh-CN" sz="1400" spc="-1" strike="noStrike">
                <a:solidFill>
                  <a:srgbClr val="142238"/>
                </a:solidFill>
                <a:latin typeface="Noto Sans CJK JP"/>
              </a:rPr>
              <a:t>所有微调方法都能产生同样增益。</a:t>
            </a:r>
            <a:endParaRPr b="0" lang="en-US" sz="1400" spc="-1" strike="noStrike">
              <a:solidFill>
                <a:srgbClr val="142238"/>
              </a:solidFill>
              <a:latin typeface="Noto Sans CJK JP"/>
            </a:endParaRPr>
          </a:p>
        </p:txBody>
      </p:sp>
      <p:sp>
        <p:nvSpPr>
          <p:cNvPr id="209" name=""/>
          <p:cNvSpPr/>
          <p:nvPr/>
        </p:nvSpPr>
        <p:spPr>
          <a:xfrm>
            <a:off x="975240" y="5554800"/>
            <a:ext cx="10241280" cy="685800"/>
          </a:xfrm>
          <a:prstGeom prst="roundRect">
            <a:avLst/>
          </a:prstGeom>
          <a:solidFill>
            <a:srgbClr val="13243a"/>
          </a:solidFill>
          <a:ln w="0">
            <a:solidFill>
              <a:srgbClr val="13243a"/>
            </a:solidFill>
          </a:ln>
        </p:spPr>
      </p:sp>
      <p:sp>
        <p:nvSpPr>
          <p:cNvPr id="210" name=""/>
          <p:cNvSpPr txBox="1"/>
          <p:nvPr/>
        </p:nvSpPr>
        <p:spPr>
          <a:xfrm>
            <a:off x="1341000" y="5726160"/>
            <a:ext cx="950976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1" lang="zh-CN" sz="1250" spc="-1" strike="noStrike">
                <a:solidFill>
                  <a:srgbClr val="ffffff"/>
                </a:solidFill>
                <a:latin typeface="Noto Sans CJK JP"/>
              </a:rPr>
              <a:t>结论：同一试卷 </a:t>
            </a:r>
            <a:r>
              <a:rPr b="1" lang="en-US" sz="1250" spc="-1" strike="noStrike">
                <a:solidFill>
                  <a:srgbClr val="ffffff"/>
                </a:solidFill>
                <a:latin typeface="Noto Sans CJK JP"/>
              </a:rPr>
              <a:t>97.10% vs 0%</a:t>
            </a:r>
            <a:r>
              <a:rPr b="1" lang="zh-CN" sz="1250" spc="-1" strike="noStrike">
                <a:solidFill>
                  <a:srgbClr val="ffffff"/>
                </a:solidFill>
                <a:latin typeface="Noto Sans CJK JP"/>
              </a:rPr>
              <a:t>，任务微调权重而非仅数据归一化决定了 </a:t>
            </a:r>
            <a:r>
              <a:rPr b="1" lang="en-US" sz="1250" spc="-1" strike="noStrike">
                <a:solidFill>
                  <a:srgbClr val="ffffff"/>
                </a:solidFill>
                <a:latin typeface="Noto Sans CJK JP"/>
              </a:rPr>
              <a:t>LIBERO </a:t>
            </a:r>
            <a:r>
              <a:rPr b="1" lang="zh-CN" sz="1250" spc="-1" strike="noStrike">
                <a:solidFill>
                  <a:srgbClr val="ffffff"/>
                </a:solidFill>
                <a:latin typeface="Noto Sans CJK JP"/>
              </a:rPr>
              <a:t>能力。</a:t>
            </a:r>
            <a:endParaRPr b="1" lang="en-US" sz="1250" spc="-1" strike="noStrike">
              <a:solidFill>
                <a:srgbClr val="ffffff"/>
              </a:solidFill>
              <a:latin typeface="Noto Sans CJK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26600" y="6549120"/>
            <a:ext cx="9144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本项目 </a:t>
            </a: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episode </a:t>
            </a:r>
            <a:r>
              <a:rPr b="0" lang="zh-CN" sz="850" spc="-1" strike="noStrike">
                <a:solidFill>
                  <a:srgbClr val="657287"/>
                </a:solidFill>
                <a:latin typeface="Noto Sans CJK JP"/>
              </a:rPr>
              <a:t>级评测数据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216520" y="6549120"/>
            <a:ext cx="548640" cy="2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r">
              <a:buNone/>
            </a:pPr>
            <a:r>
              <a:rPr b="0" lang="en-US" sz="850" spc="-1" strike="noStrike">
                <a:solidFill>
                  <a:srgbClr val="657287"/>
                </a:solidFill>
                <a:latin typeface="Noto Sans CJK JP"/>
              </a:rPr>
              <a:t>13</a:t>
            </a:r>
            <a:endParaRPr b="0" lang="en-US" sz="850" spc="-1" strike="noStrike">
              <a:solidFill>
                <a:srgbClr val="657287"/>
              </a:solidFill>
              <a:latin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2026-08-13T17:18:54Z</dcterms:created>
  <dc:creator/>
  <dc:description/>
  <dc:language>en-US</dc:language>
  <cp:lastModifiedBy/>
  <dcterms:modified xsi:type="dcterms:W3CDTF">2026-08-13T17:18:55Z</dcterms:modified>
  <cp:revision>1</cp:revision>
  <dc:subject/>
  <dc:title/>
</cp:coreProperties>
</file>